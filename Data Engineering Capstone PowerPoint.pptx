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notesMasterIdLst>
    <p:notesMasterId r:id="rId14"/>
  </p:notesMasterIdLst>
  <p:sldIdLst>
    <p:sldId id="257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68" autoAdjust="0"/>
    <p:restoredTop sz="94660"/>
  </p:normalViewPr>
  <p:slideViewPr>
    <p:cSldViewPr snapToGrid="0">
      <p:cViewPr>
        <p:scale>
          <a:sx n="92" d="100"/>
          <a:sy n="92" d="100"/>
        </p:scale>
        <p:origin x="33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667DCD-3D0B-407F-998B-784F897F490D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0B2C6C-1313-48C7-BA8C-00681E4099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243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B2C6C-1313-48C7-BA8C-00681E40994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1595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0B2C6C-1313-48C7-BA8C-00681E40994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81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CA9AE-6EBA-17A5-8E0F-E96DE02896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20AA2B-0DE8-D901-BE01-C724C92996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9CBCF-4C7C-E3D0-2EEA-15ECF62B9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E755-D864-4FAC-BE9B-D0C5BB40484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B347E-D809-C21F-8314-68C30E1E6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66559-3F1A-AD5C-B0F8-BC6F1CF31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23EF7-3772-4243-B510-6B4D3E262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857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9C1078-AFD9-1C2E-0FCE-E347B5FE2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F83F3-C99D-6D4A-D8F7-998C70856A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83709-3570-3E44-8957-3B47E649B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E755-D864-4FAC-BE9B-D0C5BB40484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048CF-6F2C-408E-E4F4-12E9146FB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82235D-046E-12E2-404B-AD998A693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23EF7-3772-4243-B510-6B4D3E262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154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64CE7-E8D1-48E2-BBED-2DD8CD4EB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47A72-273C-0BF0-D2AD-A1354CAF4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708AA-1471-0FD9-7C43-68E5AD558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E755-D864-4FAC-BE9B-D0C5BB40484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A55A8-B8D1-7893-ED54-7BBB4D58F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04E4E-B6E6-D2D4-9293-67D8F5BF1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23EF7-3772-4243-B510-6B4D3E262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4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62636-F719-C841-8483-C267B48F7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C3924-9CFF-9F19-ED31-93AB2D2363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58B2B-C4DA-2A91-76F1-59CFB7D783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37C50-E48D-AAE9-FA29-36A4CB40D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E755-D864-4FAC-BE9B-D0C5BB40484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05AD6-9A3E-3CA0-1872-9AEBC6286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FD2B5-BD0B-179B-AA3A-AE163AB4B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23EF7-3772-4243-B510-6B4D3E262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885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5346B-E526-DCED-5D64-631C5F720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5575A-9467-F91F-B195-B3FD534E7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2A7AB-2AF7-05FE-5A62-F16A969C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85C68E-64CB-0C8E-BA67-1EA3DE5BBA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1E67C4-3473-56FC-890E-82DF9192AB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7A01AE-CDF3-D3D0-B2FC-E82458734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E755-D864-4FAC-BE9B-D0C5BB40484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3633F4-80AC-60FA-3011-20046F174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996BBB-6C79-81D9-7BB0-E89A46CD0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23EF7-3772-4243-B510-6B4D3E262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586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C40DC-9D99-89AC-D4DB-E50B46DB5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6B4F58-F6D6-0B67-8497-B0605A4EB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E755-D864-4FAC-BE9B-D0C5BB40484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B3A25B-B1CE-22DC-CA31-361A5B0FB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419F5E-0B62-2FB7-3959-9DD0DF044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23EF7-3772-4243-B510-6B4D3E262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90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E9799D-3012-AC34-0A48-E5430EE33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E755-D864-4FAC-BE9B-D0C5BB40484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61D06C-88FC-2975-D49F-CDC0280B2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84089-FCDE-4E61-3903-3BCB7D39A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23EF7-3772-4243-B510-6B4D3E262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7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FC5BB-80BD-B01D-DFC3-318242EE1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F17BB-9641-1448-7845-EC381EABA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65664D-F429-28B7-041E-DBFCC7B0F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33F7F1-5CE5-538F-D46D-3F6298BA5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E755-D864-4FAC-BE9B-D0C5BB40484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BAAF34-6D39-B6EA-8F24-5D4999B41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BF0D73-5AC7-C130-4781-55F22B4FF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23EF7-3772-4243-B510-6B4D3E262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277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83963-089C-6F3D-DF80-97B4ED67D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9C0D20-45B3-456B-2EFB-A373733FDE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6F4F90-40DB-11CF-7934-2354CC9C6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8D8F2-02BD-5B9D-30EE-4E9BE7E4A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E755-D864-4FAC-BE9B-D0C5BB40484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5225C-2EE0-2E77-A12F-7EC9A8F77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027A1-DFF7-90EB-FCFA-6F5B3C8D6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23EF7-3772-4243-B510-6B4D3E262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581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2EE28-484E-B05C-27F6-68AE009E7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58B3DF-6E88-5F53-F509-39C90CFECF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023EC-B958-B203-2D98-EF061EB5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E755-D864-4FAC-BE9B-D0C5BB40484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92415-D79A-7BF8-2D52-D8108AE9E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94905-CFFE-4214-1560-B8887EA8A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23EF7-3772-4243-B510-6B4D3E262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833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C1ED93-C04B-3456-B961-88E1C37357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26EA71-C311-1439-3274-F75551AB8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EF9C9-80A9-689B-AD21-5FDD718B2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8E755-D864-4FAC-BE9B-D0C5BB40484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E1784B-8FEE-F3C9-67CA-049EEF784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46E74-3E2B-698B-06F4-0B3233A3F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23EF7-3772-4243-B510-6B4D3E262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997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110418-FDA4-AE90-A49F-51AB2FC07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403D8-B23C-AB23-6C1F-C1BD335D5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55D3E-B7CD-3D4D-FA25-22C697570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8E755-D864-4FAC-BE9B-D0C5BB40484E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2B9B4-7277-AC9B-9E41-81C36EE234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D11E16-902D-75B1-199A-1BD07FE0E9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423EF7-3772-4243-B510-6B4D3E262E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667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Efficient Data Handling with LLMs: Enhancing Supply Chain Management">
            <a:extLst>
              <a:ext uri="{FF2B5EF4-FFF2-40B4-BE49-F238E27FC236}">
                <a16:creationId xmlns:a16="http://schemas.microsoft.com/office/drawing/2014/main" id="{4A5BA1A4-B0D8-8326-A3BB-82EFB83EA6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51" r="12990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E5C159C-1C0F-F2B2-7F2A-963D8783B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1610" y="524149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b="1"/>
              <a:t>Weather Impact on U.S. Shipment Delays</a:t>
            </a:r>
            <a:endParaRPr lang="en-US" sz="4000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69F255-8E65-3811-3E40-1211E79B7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865054"/>
            <a:ext cx="3948266" cy="32907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Tomeka Pena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Master of Science, Data Engineering</a:t>
            </a:r>
          </a:p>
          <a:p>
            <a:pPr marL="0" indent="0">
              <a:buNone/>
            </a:pPr>
            <a:r>
              <a:rPr lang="en-US" sz="2000" dirty="0"/>
              <a:t>Western Governors University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June 29, 2026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20002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7D73EE-20A5-B71F-6B7A-055530195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A8B0308-8649-6225-65DA-9223609F6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21754D-C7DF-B77D-8429-7C5C74044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 b="1"/>
              <a:t>Introduction and Background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A8146D-57C1-706A-8E97-80195F714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19F417-BC41-11A5-85A5-368108CBC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1972742"/>
            <a:ext cx="4282984" cy="2114044"/>
          </a:xfrm>
        </p:spPr>
        <p:txBody>
          <a:bodyPr anchor="ctr">
            <a:normAutofit/>
          </a:bodyPr>
          <a:lstStyle/>
          <a:p>
            <a:r>
              <a:rPr lang="en-US" sz="1800" dirty="0"/>
              <a:t>Graduate student in Data Analytics – Data Engineering</a:t>
            </a:r>
          </a:p>
          <a:p>
            <a:r>
              <a:rPr lang="en-US" sz="1800" dirty="0"/>
              <a:t>Bachelors of Data Analytics, WGU</a:t>
            </a:r>
          </a:p>
          <a:p>
            <a:r>
              <a:rPr lang="en-US" sz="1800" dirty="0"/>
              <a:t>Data Analytics professional in the tire manufacture industry 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92052D5-C6F0-8561-ABED-1889D5FD0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884AFB3-1E28-8B27-6794-E5BBC39C2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5C2646-C31E-36CF-C423-DB3E5955A7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DE7360-F96A-A4C5-27AE-5A7606C404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296" t="3831" r="2996" b="2551"/>
          <a:stretch>
            <a:fillRect/>
          </a:stretch>
        </p:blipFill>
        <p:spPr>
          <a:xfrm>
            <a:off x="7265307" y="1507065"/>
            <a:ext cx="3359533" cy="335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778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AF9EE1-7E9B-B1D7-4527-9AE8137CE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700"/>
              <a:t>Problem Statement &amp; Hypothesis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C5E2C-121A-9188-0650-0F2CF75D0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US" sz="1900" b="1" dirty="0"/>
              <a:t>Research Question</a:t>
            </a:r>
          </a:p>
          <a:p>
            <a:pPr lvl="1"/>
            <a:r>
              <a:rPr lang="en-US" sz="1900" b="1" dirty="0"/>
              <a:t>Do weather conditions significantly influence shipment delays within U.S. supply chain operations?</a:t>
            </a:r>
            <a:endParaRPr lang="en-US" sz="1900" dirty="0"/>
          </a:p>
          <a:p>
            <a:r>
              <a:rPr lang="en-US" sz="1900" b="1" dirty="0"/>
              <a:t>Null Hypothesis</a:t>
            </a:r>
          </a:p>
          <a:p>
            <a:pPr lvl="1"/>
            <a:r>
              <a:rPr lang="en-US" sz="1900" dirty="0"/>
              <a:t>Weather conditions do not have a statistically significant relationship with shipment delay risk.</a:t>
            </a:r>
          </a:p>
          <a:p>
            <a:r>
              <a:rPr lang="en-US" sz="1900" b="1" dirty="0"/>
              <a:t>Alternative Hypothesis</a:t>
            </a:r>
          </a:p>
          <a:p>
            <a:pPr lvl="1"/>
            <a:r>
              <a:rPr lang="en-US" sz="1900" dirty="0"/>
              <a:t>Weather conditions have a statistically significant relationship with shipment delay risk.</a:t>
            </a:r>
          </a:p>
          <a:p>
            <a:endParaRPr lang="en-US" sz="19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B0A20B-614E-8613-8B43-418166897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423" y="1420214"/>
            <a:ext cx="4999153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205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FC920F-B85A-4068-BD93-41064EDE9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C559108-BBAE-426C-8564-051D2BA6DD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2BC35EE-6650-42D2-AEFB-4B7CD1AFC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952C743-9049-4DFB-878B-2AB07B6E4F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DF3330-9E83-BE0C-BA3E-0F4511BBD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9425" y="1238081"/>
            <a:ext cx="4709345" cy="962953"/>
          </a:xfrm>
        </p:spPr>
        <p:txBody>
          <a:bodyPr anchor="b">
            <a:normAutofit/>
          </a:bodyPr>
          <a:lstStyle/>
          <a:p>
            <a:r>
              <a:rPr lang="en-US" sz="2900"/>
              <a:t>Data Collection &amp; ETL Process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39885" y="2372170"/>
            <a:ext cx="438912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EFE2A-A71C-C901-3B78-10624D77B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736" y="2660502"/>
            <a:ext cx="4709345" cy="3632493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Data Sources</a:t>
            </a:r>
          </a:p>
          <a:p>
            <a:pPr lvl="1"/>
            <a:r>
              <a:rPr lang="en-US" sz="2000" dirty="0" err="1"/>
              <a:t>DataCo</a:t>
            </a:r>
            <a:r>
              <a:rPr lang="en-US" sz="2000" dirty="0"/>
              <a:t> SMART Supply Chain dataset </a:t>
            </a:r>
          </a:p>
          <a:p>
            <a:pPr lvl="1"/>
            <a:r>
              <a:rPr lang="en-US" sz="2000" dirty="0"/>
              <a:t>Open-</a:t>
            </a:r>
            <a:r>
              <a:rPr lang="en-US" sz="2000" dirty="0" err="1"/>
              <a:t>Meteo</a:t>
            </a:r>
            <a:r>
              <a:rPr lang="en-US" sz="2000" dirty="0"/>
              <a:t> Historical Weather API </a:t>
            </a:r>
          </a:p>
          <a:p>
            <a:r>
              <a:rPr lang="en-US" sz="2000" b="1" dirty="0"/>
              <a:t>ETL Process</a:t>
            </a:r>
          </a:p>
          <a:p>
            <a:pPr lvl="1"/>
            <a:r>
              <a:rPr lang="en-US" sz="2000" dirty="0"/>
              <a:t>Extract shipment records </a:t>
            </a:r>
          </a:p>
          <a:p>
            <a:pPr lvl="1"/>
            <a:r>
              <a:rPr lang="en-US" sz="2000" dirty="0"/>
              <a:t>Retrieve historical weather data </a:t>
            </a:r>
          </a:p>
          <a:p>
            <a:pPr lvl="1"/>
            <a:r>
              <a:rPr lang="en-US" sz="2000" dirty="0"/>
              <a:t>Clean and standardize datasets </a:t>
            </a:r>
          </a:p>
          <a:p>
            <a:pPr lvl="1"/>
            <a:r>
              <a:rPr lang="en-US" sz="2000" dirty="0"/>
              <a:t>Store data in SQLite </a:t>
            </a:r>
          </a:p>
          <a:p>
            <a:pPr lvl="1"/>
            <a:r>
              <a:rPr lang="en-US" sz="2000" dirty="0"/>
              <a:t>Join shipment and weather datasets </a:t>
            </a:r>
          </a:p>
          <a:p>
            <a:pPr lvl="1"/>
            <a:r>
              <a:rPr lang="en-US" sz="2000" dirty="0"/>
              <a:t>Validate integrated dataset</a:t>
            </a:r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76F6F4-3BD1-0229-A162-E554C4F2AD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4547" y="1466359"/>
            <a:ext cx="4489622" cy="3924646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4245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7B05919-04FD-8913-174C-4EB66380A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Analysis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E1F088-9C36-CD0E-D9E9-2D29046B9E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661" y="2252375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Analytical Techniques</a:t>
            </a:r>
          </a:p>
          <a:p>
            <a:pPr lvl="1"/>
            <a:r>
              <a:rPr lang="en-US" sz="2000" dirty="0"/>
              <a:t>Descriptive statistics </a:t>
            </a:r>
          </a:p>
          <a:p>
            <a:pPr lvl="1"/>
            <a:r>
              <a:rPr lang="en-US" sz="2000" dirty="0"/>
              <a:t>Weather category summaries </a:t>
            </a:r>
          </a:p>
          <a:p>
            <a:pPr lvl="1"/>
            <a:r>
              <a:rPr lang="en-US" sz="2000" dirty="0"/>
              <a:t>State comparisons </a:t>
            </a:r>
          </a:p>
          <a:p>
            <a:pPr lvl="1"/>
            <a:r>
              <a:rPr lang="en-US" sz="2000" dirty="0"/>
              <a:t>Pearson correlation analysis </a:t>
            </a:r>
          </a:p>
          <a:p>
            <a:pPr lvl="1"/>
            <a:r>
              <a:rPr lang="en-US" sz="2000" dirty="0"/>
              <a:t>Chi-square test of independence </a:t>
            </a:r>
          </a:p>
          <a:p>
            <a:pPr lvl="1"/>
            <a:r>
              <a:rPr lang="en-US" sz="2000" dirty="0"/>
              <a:t>Interactive Power BI dashboard</a:t>
            </a:r>
          </a:p>
          <a:p>
            <a:endParaRPr lang="en-US" sz="20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EFF894-83F4-CAEF-9E2A-712D38F813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1" t="9162"/>
          <a:stretch>
            <a:fillRect/>
          </a:stretch>
        </p:blipFill>
        <p:spPr>
          <a:xfrm>
            <a:off x="5194964" y="3176974"/>
            <a:ext cx="5935047" cy="1476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136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BC10188-2D37-4590-B460-17D20AA22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667" y="0"/>
            <a:ext cx="10208342" cy="681347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3AC3E88-FB22-6238-DFCA-9A36688D48F3}"/>
              </a:ext>
            </a:extLst>
          </p:cNvPr>
          <p:cNvSpPr/>
          <p:nvPr/>
        </p:nvSpPr>
        <p:spPr>
          <a:xfrm rot="16200000">
            <a:off x="-1715537" y="3022015"/>
            <a:ext cx="505875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Power BI Dashboard</a:t>
            </a:r>
          </a:p>
        </p:txBody>
      </p:sp>
    </p:spTree>
    <p:extLst>
      <p:ext uri="{BB962C8B-B14F-4D97-AF65-F5344CB8AC3E}">
        <p14:creationId xmlns:p14="http://schemas.microsoft.com/office/powerpoint/2010/main" val="2341510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BF8DF7-F42D-6EBE-A26B-B2B10E83B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9A724DBA-D2D9-471E-8ED7-2015DDD950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4F0AB8F-EB77-FE10-5F52-28C825B31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/>
              <a:t>Findings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4641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0234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77786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C3AA5F-3A49-5605-28FB-1DF3B12AD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1217" y="1950419"/>
            <a:ext cx="5141806" cy="423907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/>
              <a:t>Key Findings</a:t>
            </a:r>
          </a:p>
          <a:p>
            <a:r>
              <a:rPr lang="en-US" sz="1500" dirty="0"/>
              <a:t>16,143 shipment records analyzed </a:t>
            </a:r>
          </a:p>
          <a:p>
            <a:r>
              <a:rPr lang="en-US" sz="1500" dirty="0"/>
              <a:t>1,224 historical weather observations integrated </a:t>
            </a:r>
          </a:p>
          <a:p>
            <a:r>
              <a:rPr lang="en-US" sz="1500" dirty="0"/>
              <a:t>Late delivery rates were similar across weather categories </a:t>
            </a:r>
          </a:p>
          <a:p>
            <a:r>
              <a:rPr lang="en-US" sz="1500" dirty="0"/>
              <a:t>Correlation coefficients were close to zero </a:t>
            </a:r>
          </a:p>
          <a:p>
            <a:r>
              <a:rPr lang="en-US" sz="1500" dirty="0"/>
              <a:t>Chi-square test found no statistically significant relationship </a:t>
            </a:r>
          </a:p>
          <a:p>
            <a:pPr lvl="1"/>
            <a:r>
              <a:rPr lang="en-US" sz="1400" dirty="0"/>
              <a:t>Chi-square statistic: 1.4822</a:t>
            </a:r>
          </a:p>
          <a:p>
            <a:pPr lvl="1"/>
            <a:r>
              <a:rPr lang="en-US" sz="1400" dirty="0"/>
              <a:t>p-value: 0.915116</a:t>
            </a:r>
          </a:p>
          <a:p>
            <a:pPr marL="0" indent="0">
              <a:buNone/>
            </a:pPr>
            <a:r>
              <a:rPr lang="en-US" sz="1500" b="1" dirty="0"/>
              <a:t>Conclusion</a:t>
            </a:r>
          </a:p>
          <a:p>
            <a:r>
              <a:rPr lang="en-US" sz="1500" b="1" dirty="0"/>
              <a:t>Weather conditions were not a primary driver of shipment delays within this dataset.</a:t>
            </a:r>
          </a:p>
          <a:p>
            <a:endParaRPr lang="en-US" sz="15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677179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11EAE9-1CB0-ADA1-A1D7-381057EBF7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18"/>
          <a:stretch>
            <a:fillRect/>
          </a:stretch>
        </p:blipFill>
        <p:spPr>
          <a:xfrm>
            <a:off x="890854" y="1836916"/>
            <a:ext cx="4745007" cy="269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420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582A3D-1B70-6AE1-3A4F-3F23CDC9B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Limitations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F665C2D2-3DBB-015B-F183-81F8E9F1FD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661" y="2426511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dirty="0"/>
              <a:t>Weather represented by one reference city per state </a:t>
            </a:r>
          </a:p>
          <a:p>
            <a:r>
              <a:rPr lang="en-US" sz="1700" dirty="0"/>
              <a:t>Route-level weather was not available </a:t>
            </a:r>
          </a:p>
          <a:p>
            <a:r>
              <a:rPr lang="en-US" sz="1700" dirty="0"/>
              <a:t>Analysis limited to April–August 2016 </a:t>
            </a:r>
          </a:p>
          <a:p>
            <a:r>
              <a:rPr lang="en-US" sz="1700" dirty="0"/>
              <a:t>Other logistics variables were not included </a:t>
            </a:r>
          </a:p>
          <a:p>
            <a:pPr lvl="1"/>
            <a:r>
              <a:rPr lang="en-US" sz="1700" dirty="0"/>
              <a:t>Carrier performance </a:t>
            </a:r>
          </a:p>
          <a:p>
            <a:pPr lvl="1"/>
            <a:r>
              <a:rPr lang="en-US" sz="1700" dirty="0"/>
              <a:t>Warehouse operations </a:t>
            </a:r>
          </a:p>
          <a:p>
            <a:pPr lvl="1"/>
            <a:r>
              <a:rPr lang="en-US" sz="1700" dirty="0"/>
              <a:t>Routing decisions </a:t>
            </a:r>
          </a:p>
          <a:p>
            <a:pPr lvl="1"/>
            <a:r>
              <a:rPr lang="en-US" sz="1700" dirty="0"/>
              <a:t>Staffing</a:t>
            </a:r>
          </a:p>
          <a:p>
            <a:endParaRPr lang="en-US" sz="17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9DE2B9E-B80C-59C4-6BF3-9CBA388320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8"/>
          <a:stretch>
            <a:fillRect/>
          </a:stretch>
        </p:blipFill>
        <p:spPr>
          <a:xfrm>
            <a:off x="6199707" y="2776140"/>
            <a:ext cx="4308506" cy="28253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054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1AA435-78FA-6956-7FDF-92CB0F6E2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Recommendations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910E6D7B-706F-ADCE-3D86-4948530C0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3661" y="2599509"/>
            <a:ext cx="4530898" cy="363945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 dirty="0"/>
              <a:t>Proposed Actions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 dirty="0"/>
              <a:t>Investigate operational factors affecting delays 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 dirty="0"/>
              <a:t>Improve routing and logistics planning 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 dirty="0"/>
              <a:t>Expand future analyses using additional logistics data 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2000" dirty="0"/>
              <a:t>Incorporate route-level weather observations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ABC5E0-3231-D978-0580-88FFB3A20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6805" y="2524696"/>
            <a:ext cx="4124633" cy="274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033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F517F8D5-83C0-4B6F-F05C-1BA7EF6E2C69}"/>
              </a:ext>
            </a:extLst>
          </p:cNvPr>
          <p:cNvSpPr/>
          <p:nvPr/>
        </p:nvSpPr>
        <p:spPr>
          <a:xfrm>
            <a:off x="0" y="1147301"/>
            <a:ext cx="12192000" cy="52951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8DB233-D890-1CBF-55F5-431A91646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287679"/>
            <a:ext cx="3932237" cy="636813"/>
          </a:xfrm>
        </p:spPr>
        <p:txBody>
          <a:bodyPr/>
          <a:lstStyle/>
          <a:p>
            <a:r>
              <a:rPr lang="en-US" dirty="0"/>
              <a:t>Expected Benefits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E2270C0-B8DC-A05E-1EBE-109BAC612051}"/>
              </a:ext>
            </a:extLst>
          </p:cNvPr>
          <p:cNvSpPr/>
          <p:nvPr/>
        </p:nvSpPr>
        <p:spPr>
          <a:xfrm>
            <a:off x="656217" y="1238461"/>
            <a:ext cx="10695996" cy="540727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sx="101000" sy="101000" algn="t" rotWithShape="0">
              <a:prstClr val="black">
                <a:alpha val="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>
                <a:outerShdw blurRad="50800" dist="50800" dir="5400000" sx="1000" sy="1000" algn="ctr" rotWithShape="0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3EB37-0D66-FDC2-D71C-5CC657DD9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497701"/>
            <a:ext cx="10181998" cy="5078929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Data Engineering Benefits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Successfully integrated </a:t>
            </a:r>
            <a:r>
              <a:rPr lang="en-US" b="1" dirty="0"/>
              <a:t>16,143 shipment records</a:t>
            </a:r>
            <a:r>
              <a:rPr lang="en-US" dirty="0"/>
              <a:t> with </a:t>
            </a:r>
            <a:r>
              <a:rPr lang="en-US" b="1" dirty="0"/>
              <a:t>1,224 historical weather observations</a:t>
            </a:r>
            <a:r>
              <a:rPr lang="en-US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Produced a unified dataset containing </a:t>
            </a:r>
            <a:r>
              <a:rPr lang="en-US" b="1" dirty="0"/>
              <a:t>22 analytical variables</a:t>
            </a:r>
            <a:r>
              <a:rPr lang="en-US" dirty="0"/>
              <a:t> for reporting and future analysis.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Developed a repeatable ETL pipeline that can be rerun with updated shipment or weather data.</a:t>
            </a:r>
          </a:p>
          <a:p>
            <a:endParaRPr lang="en-US" sz="900" dirty="0"/>
          </a:p>
          <a:p>
            <a:r>
              <a:rPr lang="en-US" b="1" dirty="0"/>
              <a:t>Business Benefits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Identified that weather was </a:t>
            </a:r>
            <a:r>
              <a:rPr lang="en-US" b="1" dirty="0"/>
              <a:t>not</a:t>
            </a:r>
            <a:r>
              <a:rPr lang="en-US" dirty="0"/>
              <a:t> a statistically significant driver of shipment delays during the study period.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Enables logistics managers to prioritize operational improvements rather than assuming weather is the primary cause of delays.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a reusable analytical framework that can be expanded with additional operational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800" dirty="0"/>
          </a:p>
          <a:p>
            <a:r>
              <a:rPr lang="en-US" b="1" dirty="0"/>
              <a:t>Future Benefits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Can support predictive analytics by incorporating: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carrier performance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warehouse processing times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transportation routes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shipping distance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500" dirty="0"/>
              <a:t>fulfillment center information</a:t>
            </a:r>
          </a:p>
          <a:p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F9224D7-4705-A660-C1A4-1D3D036F96D4}"/>
              </a:ext>
            </a:extLst>
          </p:cNvPr>
          <p:cNvCxnSpPr/>
          <p:nvPr/>
        </p:nvCxnSpPr>
        <p:spPr>
          <a:xfrm>
            <a:off x="11704323" y="742278"/>
            <a:ext cx="0" cy="968188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423B9F4-B6C4-3350-ABD2-662F30C514A9}"/>
              </a:ext>
            </a:extLst>
          </p:cNvPr>
          <p:cNvCxnSpPr/>
          <p:nvPr/>
        </p:nvCxnSpPr>
        <p:spPr>
          <a:xfrm>
            <a:off x="12082639" y="894678"/>
            <a:ext cx="0" cy="968188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6E3F4F3-76AD-6EA3-F741-F694E81488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1" y="4501580"/>
            <a:ext cx="2967169" cy="194551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0663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EAFE00-1001-61D7-8740-E3608065D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7B74C2D-8B9E-B85F-C186-727C57562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503D28-812C-CEE3-6076-98D905FE9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US" sz="3700" dirty="0"/>
              <a:t>Conclusion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896911A-3C86-7A2B-6FB7-9129FF999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1D2E6C2-17AE-052C-A8DA-AF2B9C6CF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D85CB8D0-628A-505B-9779-73B2D0F6BE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78916B6-6B3F-E487-3DB2-33CF2BD7D7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369E5-A312-CC60-808A-2C8CA14C6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/>
              <a:t>Summary</a:t>
            </a:r>
          </a:p>
          <a:p>
            <a:r>
              <a:rPr lang="en-US" sz="2000" dirty="0"/>
              <a:t>Integrated shipment and weather datasets </a:t>
            </a:r>
          </a:p>
          <a:p>
            <a:r>
              <a:rPr lang="en-US" sz="2000" dirty="0"/>
              <a:t>Built a complete ETL pipeline </a:t>
            </a:r>
          </a:p>
          <a:p>
            <a:r>
              <a:rPr lang="en-US" sz="2000" dirty="0"/>
              <a:t>Created an interactive Power BI dashboard </a:t>
            </a:r>
          </a:p>
          <a:p>
            <a:r>
              <a:rPr lang="en-US" sz="2000" dirty="0"/>
              <a:t>Applied statistical analysis </a:t>
            </a:r>
          </a:p>
          <a:p>
            <a:r>
              <a:rPr lang="en-US" sz="2000" dirty="0"/>
              <a:t>Found no significant relationship between weather and shipment delays </a:t>
            </a:r>
          </a:p>
          <a:p>
            <a:endParaRPr lang="en-US" sz="19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2DF6B6-3FA2-CD29-DCBD-79332DFB5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A4A907-EC94-9C01-655A-DB5AF9ED4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94BE102-22B7-3C86-EEFC-06D5B8BE9FB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 rot="351929">
            <a:off x="6824570" y="1420214"/>
            <a:ext cx="3873100" cy="369211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082804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B200-65FC-D584-755B-57091684B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  <p:pic>
        <p:nvPicPr>
          <p:cNvPr id="5" name="Picture 4" descr="Efficient Data Handling with LLMs: Enhancing Supply Chain Management">
            <a:extLst>
              <a:ext uri="{FF2B5EF4-FFF2-40B4-BE49-F238E27FC236}">
                <a16:creationId xmlns:a16="http://schemas.microsoft.com/office/drawing/2014/main" id="{5B3CBF0F-8402-3089-6F21-FCE23846E4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51" r="12990"/>
          <a:stretch>
            <a:fillRect/>
          </a:stretch>
        </p:blipFill>
        <p:spPr>
          <a:xfrm>
            <a:off x="3229051" y="1690688"/>
            <a:ext cx="5733897" cy="4066646"/>
          </a:xfrm>
          <a:prstGeom prst="rect">
            <a:avLst/>
          </a:prstGeom>
          <a:effectLst>
            <a:softEdge rad="215900"/>
          </a:effectLst>
        </p:spPr>
      </p:pic>
    </p:spTree>
    <p:extLst>
      <p:ext uri="{BB962C8B-B14F-4D97-AF65-F5344CB8AC3E}">
        <p14:creationId xmlns:p14="http://schemas.microsoft.com/office/powerpoint/2010/main" val="303885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1957</TotalTime>
  <Words>432</Words>
  <Application>Microsoft Office PowerPoint</Application>
  <PresentationFormat>Widescreen</PresentationFormat>
  <Paragraphs>93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Weather Impact on U.S. Shipment Delays</vt:lpstr>
      <vt:lpstr>Introduction and Background</vt:lpstr>
      <vt:lpstr>Problem Statement &amp; Hypothesis</vt:lpstr>
      <vt:lpstr>Data Collection &amp; ETL Process</vt:lpstr>
      <vt:lpstr>Data Analysis</vt:lpstr>
      <vt:lpstr>PowerPoint Presentation</vt:lpstr>
      <vt:lpstr>Findings</vt:lpstr>
      <vt:lpstr>Limitations</vt:lpstr>
      <vt:lpstr>Recommendations</vt:lpstr>
      <vt:lpstr>Expected Benefits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Tomeka Pena</dc:creator>
  <cp:lastModifiedBy>Tomeka Pena</cp:lastModifiedBy>
  <cp:revision>22</cp:revision>
  <dcterms:created xsi:type="dcterms:W3CDTF">2026-06-26T03:26:18Z</dcterms:created>
  <dcterms:modified xsi:type="dcterms:W3CDTF">2026-06-30T21:33:53Z</dcterms:modified>
</cp:coreProperties>
</file>